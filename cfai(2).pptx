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5"/>
  </p:notesMasterIdLst>
  <p:handoutMasterIdLst>
    <p:handoutMasterId r:id="rId16"/>
  </p:handoutMasterIdLst>
  <p:sldIdLst>
    <p:sldId id="256" r:id="rId5"/>
    <p:sldId id="277" r:id="rId6"/>
    <p:sldId id="261" r:id="rId7"/>
    <p:sldId id="295" r:id="rId8"/>
    <p:sldId id="289" r:id="rId9"/>
    <p:sldId id="264" r:id="rId10"/>
    <p:sldId id="258" r:id="rId11"/>
    <p:sldId id="266" r:id="rId12"/>
    <p:sldId id="297" r:id="rId13"/>
    <p:sldId id="29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9" autoAdjust="0"/>
  </p:normalViewPr>
  <p:slideViewPr>
    <p:cSldViewPr snapToGrid="0">
      <p:cViewPr>
        <p:scale>
          <a:sx n="77" d="100"/>
          <a:sy n="77" d="100"/>
        </p:scale>
        <p:origin x="912" y="82"/>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5/21/2026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5/21/2026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5605670" y="3975652"/>
            <a:ext cx="5752141" cy="1321906"/>
          </a:xfrm>
        </p:spPr>
        <p:txBody>
          <a:bodyPr/>
          <a:lstStyle/>
          <a:p>
            <a:r>
              <a:rPr lang="en-IN" dirty="0"/>
              <a:t>Traffic Signal Optimization</a:t>
            </a:r>
            <a:endParaRPr lang="en-US" dirty="0"/>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5605671" y="5297558"/>
            <a:ext cx="5589802" cy="1242390"/>
          </a:xfrm>
        </p:spPr>
        <p:txBody>
          <a:bodyPr>
            <a:normAutofit fontScale="32500" lnSpcReduction="20000"/>
          </a:bodyPr>
          <a:lstStyle/>
          <a:p>
            <a:r>
              <a:rPr lang="en-US" sz="5600" dirty="0"/>
              <a:t>TEAM : M. </a:t>
            </a:r>
            <a:r>
              <a:rPr lang="en-US" sz="5600" dirty="0" err="1"/>
              <a:t>Surarichita</a:t>
            </a:r>
            <a:r>
              <a:rPr lang="en-US" sz="5600" dirty="0"/>
              <a:t> Laxmi</a:t>
            </a:r>
          </a:p>
          <a:p>
            <a:r>
              <a:rPr lang="en-US" sz="5600" dirty="0"/>
              <a:t>              I. Joshitha</a:t>
            </a:r>
          </a:p>
          <a:p>
            <a:r>
              <a:rPr lang="en-US" sz="5600" dirty="0"/>
              <a:t>GUIDE: Dr. G Sudhakar</a:t>
            </a:r>
          </a:p>
          <a:p>
            <a:r>
              <a:rPr lang="en-US" dirty="0"/>
              <a:t> </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566531" y="387627"/>
            <a:ext cx="3938793" cy="1530626"/>
          </a:xfrm>
        </p:spPr>
        <p:txBody>
          <a:bodyPr/>
          <a:lstStyle/>
          <a:p>
            <a:r>
              <a:rPr lang="en-US" b="1" dirty="0"/>
              <a:t>CONTENTS/AGENDA</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407504" y="1918253"/>
            <a:ext cx="4097821" cy="4438096"/>
          </a:xfrm>
        </p:spPr>
        <p:txBody>
          <a:bodyPr>
            <a:normAutofit lnSpcReduction="10000"/>
          </a:bodyPr>
          <a:lstStyle/>
          <a:p>
            <a:r>
              <a:rPr lang="en-IN" sz="1800" dirty="0"/>
              <a:t>Introduction </a:t>
            </a:r>
          </a:p>
          <a:p>
            <a:r>
              <a:rPr lang="en-IN" sz="1800" dirty="0"/>
              <a:t>Problem Statement </a:t>
            </a:r>
          </a:p>
          <a:p>
            <a:r>
              <a:rPr lang="en-IN" sz="1800" dirty="0"/>
              <a:t>Objectives </a:t>
            </a:r>
          </a:p>
          <a:p>
            <a:r>
              <a:rPr lang="en-IN" sz="1800" dirty="0"/>
              <a:t>Proposed System </a:t>
            </a:r>
          </a:p>
          <a:p>
            <a:r>
              <a:rPr lang="en-IN" sz="1800" dirty="0"/>
              <a:t>Algorithm &amp; Flowchart </a:t>
            </a:r>
          </a:p>
          <a:p>
            <a:r>
              <a:rPr lang="en-IN" sz="1800" dirty="0"/>
              <a:t>Implementation </a:t>
            </a:r>
          </a:p>
          <a:p>
            <a:r>
              <a:rPr lang="en-IN" sz="1800" dirty="0"/>
              <a:t>Results </a:t>
            </a:r>
          </a:p>
          <a:p>
            <a:r>
              <a:rPr lang="en-IN" sz="1800" dirty="0"/>
              <a:t>Advantages </a:t>
            </a:r>
          </a:p>
          <a:p>
            <a:r>
              <a:rPr lang="en-IN" sz="1800" dirty="0"/>
              <a:t>Future Scope </a:t>
            </a:r>
          </a:p>
          <a:p>
            <a:r>
              <a:rPr lang="en-IN" sz="1800" dirty="0"/>
              <a:t>Conclusion </a:t>
            </a:r>
          </a:p>
          <a:p>
            <a:endParaRPr lang="en-US" dirty="0"/>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E3984D70-BD95-4E1F-9725-902B5D74DED6}"/>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3</a:t>
            </a:fld>
            <a:endParaRPr lang="en-US" dirty="0"/>
          </a:p>
        </p:txBody>
      </p:sp>
      <p:sp>
        <p:nvSpPr>
          <p:cNvPr id="29" name="Title 28">
            <a:extLst>
              <a:ext uri="{FF2B5EF4-FFF2-40B4-BE49-F238E27FC236}">
                <a16:creationId xmlns:a16="http://schemas.microsoft.com/office/drawing/2014/main" id="{B406F973-3367-BFB5-8364-F35E7A50AF86}"/>
              </a:ext>
            </a:extLst>
          </p:cNvPr>
          <p:cNvSpPr>
            <a:spLocks noGrp="1"/>
          </p:cNvSpPr>
          <p:nvPr>
            <p:ph type="title"/>
          </p:nvPr>
        </p:nvSpPr>
        <p:spPr>
          <a:xfrm>
            <a:off x="1222512" y="1076567"/>
            <a:ext cx="4601817" cy="585788"/>
          </a:xfrm>
        </p:spPr>
        <p:txBody>
          <a:bodyPr>
            <a:normAutofit/>
          </a:bodyPr>
          <a:lstStyle/>
          <a:p>
            <a:r>
              <a:rPr lang="en-IN" b="1" dirty="0"/>
              <a:t>Abstract / Proposal</a:t>
            </a:r>
          </a:p>
        </p:txBody>
      </p:sp>
      <p:sp>
        <p:nvSpPr>
          <p:cNvPr id="31" name="TextBox 30">
            <a:extLst>
              <a:ext uri="{FF2B5EF4-FFF2-40B4-BE49-F238E27FC236}">
                <a16:creationId xmlns:a16="http://schemas.microsoft.com/office/drawing/2014/main" id="{2ACC15AF-4B13-DC26-74C1-4F1A16222F81}"/>
              </a:ext>
            </a:extLst>
          </p:cNvPr>
          <p:cNvSpPr txBox="1"/>
          <p:nvPr/>
        </p:nvSpPr>
        <p:spPr>
          <a:xfrm>
            <a:off x="1053548" y="1828800"/>
            <a:ext cx="9134061" cy="3785652"/>
          </a:xfrm>
          <a:prstGeom prst="rect">
            <a:avLst/>
          </a:prstGeom>
          <a:noFill/>
        </p:spPr>
        <p:txBody>
          <a:bodyPr wrap="square">
            <a:spAutoFit/>
          </a:bodyPr>
          <a:lstStyle/>
          <a:p>
            <a:pPr>
              <a:buNone/>
            </a:pPr>
            <a:r>
              <a:rPr lang="en-US" sz="2400" dirty="0"/>
              <a:t>Traffic congestion is a common problem in cities. Fixed-time traffic signals often cause unnecessary delays because they do not consider the actual number of vehicles on the road.</a:t>
            </a:r>
          </a:p>
          <a:p>
            <a:pPr>
              <a:buNone/>
            </a:pPr>
            <a:r>
              <a:rPr lang="en-US" sz="2400" dirty="0"/>
              <a:t>This project proposes a Rule-Based Traffic Signal Optimization System that adjusts green signal timings based on traffic density. Roads with more vehicles get longer green signals, while roads with fewer vehicles get shorter green signals.</a:t>
            </a:r>
          </a:p>
          <a:p>
            <a:pPr>
              <a:buNone/>
            </a:pPr>
            <a:r>
              <a:rPr lang="en-US" sz="2400" dirty="0"/>
              <a:t>The main aim is to reduce waiting time, improve traffic flow, and make transportation more efficient using simple AI decision-making rules.🚦</a:t>
            </a:r>
          </a:p>
        </p:txBody>
      </p:sp>
    </p:spTree>
    <p:extLst>
      <p:ext uri="{BB962C8B-B14F-4D97-AF65-F5344CB8AC3E}">
        <p14:creationId xmlns:p14="http://schemas.microsoft.com/office/powerpoint/2010/main" val="173856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565E1-F0B6-02D4-05CF-CD5FD29117F4}"/>
              </a:ext>
            </a:extLst>
          </p:cNvPr>
          <p:cNvSpPr>
            <a:spLocks noGrp="1"/>
          </p:cNvSpPr>
          <p:nvPr>
            <p:ph type="title"/>
          </p:nvPr>
        </p:nvSpPr>
        <p:spPr>
          <a:xfrm rot="10800000" flipV="1">
            <a:off x="2615729" y="1005603"/>
            <a:ext cx="6960541" cy="862954"/>
          </a:xfrm>
        </p:spPr>
        <p:txBody>
          <a:bodyPr>
            <a:normAutofit fontScale="90000"/>
          </a:bodyPr>
          <a:lstStyle/>
          <a:p>
            <a:r>
              <a:rPr lang="en-IN" b="1" dirty="0"/>
              <a:t>4. Hardware Requirements</a:t>
            </a:r>
            <a:br>
              <a:rPr lang="en-IN" b="1" dirty="0"/>
            </a:br>
            <a:br>
              <a:rPr lang="en-IN" b="1" dirty="0"/>
            </a:br>
            <a:endParaRPr lang="en-IN" dirty="0"/>
          </a:p>
        </p:txBody>
      </p:sp>
      <p:sp>
        <p:nvSpPr>
          <p:cNvPr id="13" name="Slide Number Placeholder 12">
            <a:extLst>
              <a:ext uri="{FF2B5EF4-FFF2-40B4-BE49-F238E27FC236}">
                <a16:creationId xmlns:a16="http://schemas.microsoft.com/office/drawing/2014/main" id="{CCB4B381-E6A2-DD91-A6FE-D13AFB38E7ED}"/>
              </a:ext>
            </a:extLst>
          </p:cNvPr>
          <p:cNvSpPr>
            <a:spLocks noGrp="1"/>
          </p:cNvSpPr>
          <p:nvPr>
            <p:ph type="sldNum" sz="quarter" idx="22"/>
          </p:nvPr>
        </p:nvSpPr>
        <p:spPr/>
        <p:txBody>
          <a:bodyPr/>
          <a:lstStyle/>
          <a:p>
            <a:fld id="{B5CEABB6-07DC-46E8-9B57-56EC44A396E5}" type="slidenum">
              <a:rPr lang="en-US" smtClean="0"/>
              <a:t>4</a:t>
            </a:fld>
            <a:endParaRPr lang="en-US" dirty="0"/>
          </a:p>
        </p:txBody>
      </p:sp>
      <p:sp>
        <p:nvSpPr>
          <p:cNvPr id="15" name="TextBox 14">
            <a:extLst>
              <a:ext uri="{FF2B5EF4-FFF2-40B4-BE49-F238E27FC236}">
                <a16:creationId xmlns:a16="http://schemas.microsoft.com/office/drawing/2014/main" id="{1ECC75E8-6A34-2009-7368-510848C31074}"/>
              </a:ext>
            </a:extLst>
          </p:cNvPr>
          <p:cNvSpPr txBox="1"/>
          <p:nvPr/>
        </p:nvSpPr>
        <p:spPr>
          <a:xfrm>
            <a:off x="1918252" y="1470991"/>
            <a:ext cx="7235687" cy="4304071"/>
          </a:xfrm>
          <a:prstGeom prst="rect">
            <a:avLst/>
          </a:prstGeom>
          <a:noFill/>
        </p:spPr>
        <p:txBody>
          <a:bodyPr wrap="square">
            <a:spAutoFit/>
          </a:bodyPr>
          <a:lstStyle/>
          <a:p>
            <a:pPr>
              <a:buNone/>
            </a:pPr>
            <a:r>
              <a:rPr lang="en-IN" sz="2400" dirty="0"/>
              <a:t>Since this is a software-based project, only basic hardware is required:</a:t>
            </a:r>
          </a:p>
          <a:p>
            <a:pPr>
              <a:buFont typeface="Arial" panose="020B0604020202020204" pitchFamily="34" charset="0"/>
              <a:buChar char="•"/>
            </a:pPr>
            <a:r>
              <a:rPr lang="en-IN" sz="2400" dirty="0"/>
              <a:t>💻 Computer/Laptop </a:t>
            </a:r>
          </a:p>
          <a:p>
            <a:pPr>
              <a:buFont typeface="Arial" panose="020B0604020202020204" pitchFamily="34" charset="0"/>
              <a:buChar char="•"/>
            </a:pPr>
            <a:r>
              <a:rPr lang="en-IN" sz="2400" dirty="0"/>
              <a:t>⌨️ Keyboard and Mouse </a:t>
            </a:r>
          </a:p>
          <a:p>
            <a:pPr>
              <a:buFont typeface="Arial" panose="020B0604020202020204" pitchFamily="34" charset="0"/>
              <a:buChar char="•"/>
            </a:pPr>
            <a:r>
              <a:rPr lang="en-IN" sz="2400" dirty="0"/>
              <a:t>🖥️ Monitor/Display </a:t>
            </a:r>
          </a:p>
          <a:p>
            <a:pPr>
              <a:buFont typeface="Arial" panose="020B0604020202020204" pitchFamily="34" charset="0"/>
              <a:buChar char="•"/>
            </a:pPr>
            <a:r>
              <a:rPr lang="en-IN" sz="2400" dirty="0"/>
              <a:t>💾 Minimum 4 GB RAM </a:t>
            </a:r>
          </a:p>
          <a:p>
            <a:pPr>
              <a:buFont typeface="Arial" panose="020B0604020202020204" pitchFamily="34" charset="0"/>
              <a:buChar char="•"/>
            </a:pPr>
            <a:r>
              <a:rPr lang="en-IN" sz="2400" dirty="0"/>
              <a:t>📂 Minimum 1 GB Free Storage </a:t>
            </a:r>
          </a:p>
          <a:p>
            <a:pPr>
              <a:buNone/>
            </a:pPr>
            <a:r>
              <a:rPr lang="en-IN" sz="2400" b="1" dirty="0"/>
              <a:t>Optional (for future enhancement):</a:t>
            </a:r>
            <a:endParaRPr lang="en-IN" sz="2400" dirty="0"/>
          </a:p>
          <a:p>
            <a:pPr>
              <a:buFont typeface="Arial" panose="020B0604020202020204" pitchFamily="34" charset="0"/>
              <a:buChar char="•"/>
            </a:pPr>
            <a:r>
              <a:rPr lang="en-IN" sz="2400" dirty="0"/>
              <a:t>📷 Traffic Camera </a:t>
            </a:r>
          </a:p>
          <a:p>
            <a:pPr>
              <a:buFont typeface="Arial" panose="020B0604020202020204" pitchFamily="34" charset="0"/>
              <a:buChar char="•"/>
            </a:pPr>
            <a:r>
              <a:rPr lang="en-IN" sz="2400" dirty="0"/>
              <a:t>📡 Vehicle Sensors </a:t>
            </a:r>
          </a:p>
          <a:p>
            <a:pPr>
              <a:buFont typeface="Arial" panose="020B0604020202020204" pitchFamily="34" charset="0"/>
              <a:buChar char="•"/>
            </a:pPr>
            <a:r>
              <a:rPr lang="en-IN" sz="2400" dirty="0"/>
              <a:t>🌐 Internet Connection</a:t>
            </a:r>
          </a:p>
        </p:txBody>
      </p:sp>
    </p:spTree>
    <p:extLst>
      <p:ext uri="{BB962C8B-B14F-4D97-AF65-F5344CB8AC3E}">
        <p14:creationId xmlns:p14="http://schemas.microsoft.com/office/powerpoint/2010/main" val="3156051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371600" y="4224129"/>
            <a:ext cx="3329609" cy="1272209"/>
          </a:xfrm>
        </p:spPr>
        <p:txBody>
          <a:bodyPr>
            <a:normAutofit/>
          </a:bodyPr>
          <a:lstStyle/>
          <a:p>
            <a:r>
              <a:rPr lang="en-US" dirty="0"/>
              <a:t>5.Software </a:t>
            </a:r>
            <a:r>
              <a:rPr lang="en-US" dirty="0" err="1"/>
              <a:t>requirementS</a:t>
            </a:r>
            <a:br>
              <a:rPr lang="en-US" b="1" dirty="0"/>
            </a:br>
            <a:endParaRPr lang="en-US" b="1" dirty="0"/>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5</a:t>
            </a:fld>
            <a:endParaRPr lang="en-US" dirty="0"/>
          </a:p>
        </p:txBody>
      </p:sp>
      <p:sp>
        <p:nvSpPr>
          <p:cNvPr id="31" name="TextBox 30">
            <a:extLst>
              <a:ext uri="{FF2B5EF4-FFF2-40B4-BE49-F238E27FC236}">
                <a16:creationId xmlns:a16="http://schemas.microsoft.com/office/drawing/2014/main" id="{CB288D43-D627-6C02-0869-BB6D69FBE1F8}"/>
              </a:ext>
            </a:extLst>
          </p:cNvPr>
          <p:cNvSpPr txBox="1"/>
          <p:nvPr/>
        </p:nvSpPr>
        <p:spPr>
          <a:xfrm>
            <a:off x="4870174" y="3279912"/>
            <a:ext cx="5655367" cy="2677656"/>
          </a:xfrm>
          <a:prstGeom prst="rect">
            <a:avLst/>
          </a:prstGeom>
          <a:noFill/>
        </p:spPr>
        <p:txBody>
          <a:bodyPr wrap="square">
            <a:spAutoFit/>
          </a:bodyPr>
          <a:lstStyle/>
          <a:p>
            <a:pPr>
              <a:buFont typeface="Arial" panose="020B0604020202020204" pitchFamily="34" charset="0"/>
              <a:buChar char="•"/>
            </a:pPr>
            <a:r>
              <a:rPr lang="en-IN" sz="2400" dirty="0"/>
              <a:t>Operating System: Windows 10/11 </a:t>
            </a:r>
          </a:p>
          <a:p>
            <a:pPr>
              <a:buFont typeface="Arial" panose="020B0604020202020204" pitchFamily="34" charset="0"/>
              <a:buChar char="•"/>
            </a:pPr>
            <a:r>
              <a:rPr lang="en-IN" sz="2400" dirty="0"/>
              <a:t>Programming Language: Python </a:t>
            </a:r>
          </a:p>
          <a:p>
            <a:pPr>
              <a:buFont typeface="Arial" panose="020B0604020202020204" pitchFamily="34" charset="0"/>
              <a:buChar char="•"/>
            </a:pPr>
            <a:r>
              <a:rPr lang="en-IN" sz="2400" dirty="0"/>
              <a:t>IDE/Code Editor: Visual Studio Code (VS Code) or PyCharm </a:t>
            </a:r>
          </a:p>
          <a:p>
            <a:pPr>
              <a:buFont typeface="Arial" panose="020B0604020202020204" pitchFamily="34" charset="0"/>
              <a:buChar char="•"/>
            </a:pPr>
            <a:r>
              <a:rPr lang="en-IN" sz="2400" dirty="0"/>
              <a:t>Web Browser: Google Chrome </a:t>
            </a:r>
          </a:p>
          <a:p>
            <a:pPr>
              <a:buFont typeface="Arial" panose="020B0604020202020204" pitchFamily="34" charset="0"/>
              <a:buChar char="•"/>
            </a:pPr>
            <a:r>
              <a:rPr lang="en-IN" sz="2400" dirty="0"/>
              <a:t>Python Libraries: Basic Python libraries (optional: </a:t>
            </a:r>
            <a:r>
              <a:rPr lang="en-IN" sz="2400" dirty="0" err="1"/>
              <a:t>Tkinter</a:t>
            </a:r>
            <a:r>
              <a:rPr lang="en-IN" sz="2400" dirty="0"/>
              <a:t> for GUI) </a:t>
            </a:r>
          </a:p>
        </p:txBody>
      </p:sp>
    </p:spTree>
    <p:extLst>
      <p:ext uri="{BB962C8B-B14F-4D97-AF65-F5344CB8AC3E}">
        <p14:creationId xmlns:p14="http://schemas.microsoft.com/office/powerpoint/2010/main" val="1844941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477079" y="119271"/>
            <a:ext cx="5078896" cy="1093303"/>
          </a:xfrm>
        </p:spPr>
        <p:txBody>
          <a:bodyPr/>
          <a:lstStyle/>
          <a:p>
            <a:r>
              <a:rPr lang="en-US" dirty="0"/>
              <a:t>METHODOLOGY</a:t>
            </a:r>
          </a:p>
        </p:txBody>
      </p:sp>
      <p:sp>
        <p:nvSpPr>
          <p:cNvPr id="3" name="Content Placeholder 2">
            <a:extLst>
              <a:ext uri="{FF2B5EF4-FFF2-40B4-BE49-F238E27FC236}">
                <a16:creationId xmlns:a16="http://schemas.microsoft.com/office/drawing/2014/main" id="{033634FE-ADF0-4BC3-A0A9-447EA9DD096B}"/>
              </a:ext>
            </a:extLst>
          </p:cNvPr>
          <p:cNvSpPr>
            <a:spLocks noGrp="1"/>
          </p:cNvSpPr>
          <p:nvPr>
            <p:ph type="body" idx="1"/>
          </p:nvPr>
        </p:nvSpPr>
        <p:spPr>
          <a:xfrm>
            <a:off x="218662" y="1530627"/>
            <a:ext cx="10207486" cy="4601816"/>
          </a:xfrm>
        </p:spPr>
        <p:txBody>
          <a:bodyPr vert="horz" lIns="91440" tIns="45720" rIns="91440" bIns="45720" rtlCol="0" anchor="t">
            <a:normAutofit/>
          </a:bodyPr>
          <a:lstStyle/>
          <a:p>
            <a:r>
              <a:rPr lang="en-US" sz="2000" b="1" dirty="0"/>
              <a:t>a) Existing System</a:t>
            </a:r>
          </a:p>
          <a:p>
            <a:r>
              <a:rPr lang="en-US" sz="2000" dirty="0"/>
              <a:t>The existing traffic signal system uses fixed time intervals for all roads regardless of the number of vehicles. Even if one road has very little traffic and another has heavy traffic, the signal timings remain the same.</a:t>
            </a:r>
          </a:p>
          <a:p>
            <a:r>
              <a:rPr lang="en-US" sz="2000" b="1" dirty="0"/>
              <a:t>Disadvantages:</a:t>
            </a:r>
            <a:endParaRPr lang="en-US" sz="2000" dirty="0"/>
          </a:p>
          <a:p>
            <a:r>
              <a:rPr lang="en-US" sz="2000" dirty="0"/>
              <a:t>Increased waiting time </a:t>
            </a:r>
          </a:p>
          <a:p>
            <a:r>
              <a:rPr lang="en-US" sz="2000" dirty="0"/>
              <a:t>Traffic congestion </a:t>
            </a:r>
          </a:p>
          <a:p>
            <a:r>
              <a:rPr lang="en-US" sz="2000" dirty="0"/>
              <a:t>Fuel wastage </a:t>
            </a:r>
          </a:p>
          <a:p>
            <a:r>
              <a:rPr lang="en-US" sz="2000" dirty="0"/>
              <a:t>Inefficient traffic management </a:t>
            </a:r>
            <a:br>
              <a:rPr lang="en-US" dirty="0"/>
            </a:br>
            <a:endParaRPr lang="en-US" dirty="0"/>
          </a:p>
          <a:p>
            <a:endParaRPr lang="en-US" noProof="1"/>
          </a:p>
        </p:txBody>
      </p:sp>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6</a:t>
            </a:fld>
            <a:endParaRPr lang="en-US" dirty="0"/>
          </a:p>
        </p:txBody>
      </p:sp>
    </p:spTree>
    <p:extLst>
      <p:ext uri="{BB962C8B-B14F-4D97-AF65-F5344CB8AC3E}">
        <p14:creationId xmlns:p14="http://schemas.microsoft.com/office/powerpoint/2010/main" val="1346372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a:xfrm rot="10800000" flipV="1">
            <a:off x="6991350" y="4286766"/>
            <a:ext cx="4179570" cy="45719"/>
          </a:xfrm>
        </p:spPr>
        <p:txBody>
          <a:bodyPr/>
          <a:lstStyle/>
          <a:p>
            <a:br>
              <a:rPr lang="en-US" dirty="0"/>
            </a:br>
            <a:endParaRPr lang="en-US" dirty="0"/>
          </a:p>
        </p:txBody>
      </p:sp>
      <p:sp>
        <p:nvSpPr>
          <p:cNvPr id="4" name="TextBox 3">
            <a:extLst>
              <a:ext uri="{FF2B5EF4-FFF2-40B4-BE49-F238E27FC236}">
                <a16:creationId xmlns:a16="http://schemas.microsoft.com/office/drawing/2014/main" id="{D2B545C2-B102-2FC3-D9ED-C6DC93876D22}"/>
              </a:ext>
            </a:extLst>
          </p:cNvPr>
          <p:cNvSpPr txBox="1"/>
          <p:nvPr/>
        </p:nvSpPr>
        <p:spPr>
          <a:xfrm>
            <a:off x="6679096" y="1635981"/>
            <a:ext cx="4363278" cy="4093428"/>
          </a:xfrm>
          <a:prstGeom prst="rect">
            <a:avLst/>
          </a:prstGeom>
          <a:noFill/>
        </p:spPr>
        <p:txBody>
          <a:bodyPr wrap="square">
            <a:spAutoFit/>
          </a:bodyPr>
          <a:lstStyle/>
          <a:p>
            <a:r>
              <a:rPr lang="en-US" sz="2000" b="1" dirty="0"/>
              <a:t>b) Existing System Architecture</a:t>
            </a:r>
          </a:p>
          <a:p>
            <a:r>
              <a:rPr lang="en-US" sz="2000" dirty="0"/>
              <a:t>Vehicles on Road</a:t>
            </a:r>
            <a:br>
              <a:rPr lang="en-US" sz="2000" dirty="0"/>
            </a:br>
            <a:r>
              <a:rPr lang="en-US" sz="2000" dirty="0"/>
              <a:t>       ↓</a:t>
            </a:r>
            <a:br>
              <a:rPr lang="en-US" sz="2000" dirty="0"/>
            </a:br>
            <a:r>
              <a:rPr lang="en-US" sz="2000" dirty="0"/>
              <a:t>Fixed-Time Traffic Signal</a:t>
            </a:r>
            <a:br>
              <a:rPr lang="en-US" sz="2000" dirty="0"/>
            </a:br>
            <a:r>
              <a:rPr lang="en-US" sz="2000" dirty="0"/>
              <a:t>       ↓</a:t>
            </a:r>
            <a:br>
              <a:rPr lang="en-US" sz="2000" dirty="0"/>
            </a:br>
            <a:r>
              <a:rPr lang="en-US" sz="2000" dirty="0"/>
              <a:t>Green/Red Signal</a:t>
            </a:r>
            <a:br>
              <a:rPr lang="en-US" sz="2000" dirty="0"/>
            </a:br>
            <a:r>
              <a:rPr lang="en-US" sz="2000" dirty="0"/>
              <a:t>       ↓</a:t>
            </a:r>
            <a:br>
              <a:rPr lang="en-US" sz="2000" dirty="0"/>
            </a:br>
            <a:r>
              <a:rPr lang="en-US" sz="2000" dirty="0"/>
              <a:t>Traffic Movement</a:t>
            </a:r>
          </a:p>
          <a:p>
            <a:endParaRPr lang="en-US" sz="2000" dirty="0"/>
          </a:p>
          <a:p>
            <a:r>
              <a:rPr lang="en-US" sz="2000" b="1" dirty="0"/>
              <a:t>Explanation:</a:t>
            </a:r>
            <a:br>
              <a:rPr lang="en-US" sz="2000" dirty="0"/>
            </a:br>
            <a:r>
              <a:rPr lang="en-US" sz="2000" dirty="0"/>
              <a:t>The signal follows pre-set timings without considering actual traffic conditions.</a:t>
            </a:r>
          </a:p>
        </p:txBody>
      </p:sp>
    </p:spTree>
    <p:extLst>
      <p:ext uri="{BB962C8B-B14F-4D97-AF65-F5344CB8AC3E}">
        <p14:creationId xmlns:p14="http://schemas.microsoft.com/office/powerpoint/2010/main" val="707789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8</a:t>
            </a:fld>
            <a:endParaRPr lang="en-US" dirty="0"/>
          </a:p>
        </p:txBody>
      </p:sp>
      <p:sp>
        <p:nvSpPr>
          <p:cNvPr id="17" name="TextBox 16">
            <a:extLst>
              <a:ext uri="{FF2B5EF4-FFF2-40B4-BE49-F238E27FC236}">
                <a16:creationId xmlns:a16="http://schemas.microsoft.com/office/drawing/2014/main" id="{D3F877C8-8DFA-8F0F-572C-60F82CD0729A}"/>
              </a:ext>
            </a:extLst>
          </p:cNvPr>
          <p:cNvSpPr txBox="1"/>
          <p:nvPr/>
        </p:nvSpPr>
        <p:spPr>
          <a:xfrm>
            <a:off x="1431235" y="1630017"/>
            <a:ext cx="9571382" cy="3785652"/>
          </a:xfrm>
          <a:prstGeom prst="rect">
            <a:avLst/>
          </a:prstGeom>
          <a:noFill/>
        </p:spPr>
        <p:txBody>
          <a:bodyPr wrap="square">
            <a:spAutoFit/>
          </a:bodyPr>
          <a:lstStyle/>
          <a:p>
            <a:pPr>
              <a:buNone/>
            </a:pPr>
            <a:r>
              <a:rPr lang="en-US" sz="2400" b="1" dirty="0"/>
              <a:t>c) Proposed System</a:t>
            </a:r>
          </a:p>
          <a:p>
            <a:pPr>
              <a:buNone/>
            </a:pPr>
            <a:r>
              <a:rPr lang="en-US" sz="2400" dirty="0"/>
              <a:t>The proposed system uses </a:t>
            </a:r>
            <a:r>
              <a:rPr lang="en-US" sz="2400" b="1" dirty="0"/>
              <a:t>Rule-Based AI</a:t>
            </a:r>
            <a:r>
              <a:rPr lang="en-US" sz="2400" dirty="0"/>
              <a:t> to adjust signal timings according to traffic density. Roads with more vehicles receive longer green signals, while roads with fewer vehicles receive shorter green signals.</a:t>
            </a:r>
          </a:p>
          <a:p>
            <a:pPr>
              <a:buNone/>
            </a:pPr>
            <a:r>
              <a:rPr lang="en-US" sz="2400" b="1" dirty="0"/>
              <a:t>Advantages:</a:t>
            </a:r>
            <a:endParaRPr lang="en-US" sz="2400" dirty="0"/>
          </a:p>
          <a:p>
            <a:pPr>
              <a:buFont typeface="Arial" panose="020B0604020202020204" pitchFamily="34" charset="0"/>
              <a:buChar char="•"/>
            </a:pPr>
            <a:r>
              <a:rPr lang="en-US" sz="2400" dirty="0"/>
              <a:t>Reduces traffic congestion </a:t>
            </a:r>
          </a:p>
          <a:p>
            <a:pPr>
              <a:buFont typeface="Arial" panose="020B0604020202020204" pitchFamily="34" charset="0"/>
              <a:buChar char="•"/>
            </a:pPr>
            <a:r>
              <a:rPr lang="en-US" sz="2400" dirty="0"/>
              <a:t>Decreases waiting time </a:t>
            </a:r>
          </a:p>
          <a:p>
            <a:pPr>
              <a:buFont typeface="Arial" panose="020B0604020202020204" pitchFamily="34" charset="0"/>
              <a:buChar char="•"/>
            </a:pPr>
            <a:r>
              <a:rPr lang="en-US" sz="2400" dirty="0"/>
              <a:t>Improves traffic flow </a:t>
            </a:r>
          </a:p>
          <a:p>
            <a:pPr>
              <a:buFont typeface="Arial" panose="020B0604020202020204" pitchFamily="34" charset="0"/>
              <a:buChar char="•"/>
            </a:pPr>
            <a:r>
              <a:rPr lang="en-US" sz="2400" dirty="0"/>
              <a:t>Better utilization of road space</a:t>
            </a:r>
            <a:endParaRPr lang="en-IN" sz="2400" dirty="0"/>
          </a:p>
        </p:txBody>
      </p:sp>
    </p:spTree>
    <p:extLst>
      <p:ext uri="{BB962C8B-B14F-4D97-AF65-F5344CB8AC3E}">
        <p14:creationId xmlns:p14="http://schemas.microsoft.com/office/powerpoint/2010/main" val="2121178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463E3FE0-1E06-4621-C13F-8EDBDF448313}"/>
              </a:ext>
            </a:extLst>
          </p:cNvPr>
          <p:cNvSpPr>
            <a:spLocks noGrp="1"/>
          </p:cNvSpPr>
          <p:nvPr>
            <p:ph type="sldNum" sz="quarter" idx="12"/>
          </p:nvPr>
        </p:nvSpPr>
        <p:spPr/>
        <p:txBody>
          <a:bodyPr/>
          <a:lstStyle/>
          <a:p>
            <a:fld id="{B5CEABB6-07DC-46E8-9B57-56EC44A396E5}" type="slidenum">
              <a:rPr lang="en-US" smtClean="0"/>
              <a:t>9</a:t>
            </a:fld>
            <a:endParaRPr lang="en-US" dirty="0"/>
          </a:p>
        </p:txBody>
      </p:sp>
      <p:sp>
        <p:nvSpPr>
          <p:cNvPr id="11" name="TextBox 10">
            <a:extLst>
              <a:ext uri="{FF2B5EF4-FFF2-40B4-BE49-F238E27FC236}">
                <a16:creationId xmlns:a16="http://schemas.microsoft.com/office/drawing/2014/main" id="{99A85471-0AB7-14E0-A807-CCED5569659D}"/>
              </a:ext>
            </a:extLst>
          </p:cNvPr>
          <p:cNvSpPr txBox="1"/>
          <p:nvPr/>
        </p:nvSpPr>
        <p:spPr>
          <a:xfrm>
            <a:off x="3707296" y="695740"/>
            <a:ext cx="6301408" cy="5412066"/>
          </a:xfrm>
          <a:prstGeom prst="rect">
            <a:avLst/>
          </a:prstGeom>
          <a:noFill/>
        </p:spPr>
        <p:txBody>
          <a:bodyPr wrap="square">
            <a:spAutoFit/>
          </a:bodyPr>
          <a:lstStyle/>
          <a:p>
            <a:pPr>
              <a:buNone/>
            </a:pPr>
            <a:r>
              <a:rPr lang="en-IN" sz="2400" b="1" dirty="0"/>
              <a:t>d) Proposed System Architecture</a:t>
            </a:r>
          </a:p>
          <a:p>
            <a:pPr>
              <a:buNone/>
            </a:pPr>
            <a:endParaRPr lang="en-IN" sz="2400" b="1" dirty="0"/>
          </a:p>
          <a:p>
            <a:pPr rtl="0">
              <a:buNone/>
            </a:pPr>
            <a:r>
              <a:rPr lang="en-IN" sz="2400" dirty="0"/>
              <a:t>Traffic Data Input</a:t>
            </a:r>
            <a:br>
              <a:rPr lang="en-IN" sz="2400" dirty="0"/>
            </a:br>
            <a:r>
              <a:rPr lang="en-IN" sz="2400" dirty="0"/>
              <a:t> (Vehicle Count)</a:t>
            </a:r>
            <a:br>
              <a:rPr lang="en-IN" sz="2400" dirty="0"/>
            </a:br>
            <a:r>
              <a:rPr lang="en-IN" sz="2400" dirty="0"/>
              <a:t>        ↓</a:t>
            </a:r>
            <a:br>
              <a:rPr lang="en-IN" sz="2400" dirty="0"/>
            </a:br>
            <a:r>
              <a:rPr lang="en-IN" sz="2400" dirty="0"/>
              <a:t> Rule-Based AI Engine</a:t>
            </a:r>
            <a:br>
              <a:rPr lang="en-IN" sz="2400" dirty="0"/>
            </a:br>
            <a:r>
              <a:rPr lang="en-IN" sz="2400" dirty="0"/>
              <a:t>        ↓</a:t>
            </a:r>
            <a:br>
              <a:rPr lang="en-IN" sz="2400" dirty="0"/>
            </a:br>
            <a:r>
              <a:rPr lang="en-IN" sz="2400" dirty="0"/>
              <a:t> Decision Making</a:t>
            </a:r>
            <a:br>
              <a:rPr lang="en-IN" sz="2400" dirty="0"/>
            </a:br>
            <a:r>
              <a:rPr lang="en-IN" sz="2400" dirty="0"/>
              <a:t>        ↓</a:t>
            </a:r>
            <a:br>
              <a:rPr lang="en-IN" sz="2400" dirty="0"/>
            </a:br>
            <a:r>
              <a:rPr lang="en-IN" sz="2400" dirty="0"/>
              <a:t> Signal Time Allocation</a:t>
            </a:r>
            <a:br>
              <a:rPr lang="en-IN" sz="2400" dirty="0"/>
            </a:br>
            <a:r>
              <a:rPr lang="en-IN" sz="2400" dirty="0"/>
              <a:t>        ↓</a:t>
            </a:r>
            <a:br>
              <a:rPr lang="en-IN" sz="2400" dirty="0"/>
            </a:br>
            <a:r>
              <a:rPr lang="en-IN" sz="2400" dirty="0"/>
              <a:t> Traffic Signal Control</a:t>
            </a:r>
            <a:br>
              <a:rPr lang="en-IN" sz="2400" dirty="0"/>
            </a:br>
            <a:r>
              <a:rPr lang="en-IN" sz="2400" dirty="0"/>
              <a:t>        ↓</a:t>
            </a:r>
            <a:br>
              <a:rPr lang="en-IN" sz="2400" dirty="0"/>
            </a:br>
            <a:r>
              <a:rPr lang="en-IN" sz="2400" dirty="0"/>
              <a:t> Optimized Traffic Flow</a:t>
            </a:r>
          </a:p>
        </p:txBody>
      </p:sp>
    </p:spTree>
    <p:extLst>
      <p:ext uri="{BB962C8B-B14F-4D97-AF65-F5344CB8AC3E}">
        <p14:creationId xmlns:p14="http://schemas.microsoft.com/office/powerpoint/2010/main" val="1061803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36445A9D-16EA-F656-E193-A1AD2C49AF68}"/>
              </a:ext>
            </a:extLst>
          </p:cNvPr>
          <p:cNvSpPr>
            <a:spLocks noGrp="1"/>
          </p:cNvSpPr>
          <p:nvPr>
            <p:ph type="sldNum" sz="quarter" idx="12"/>
          </p:nvPr>
        </p:nvSpPr>
        <p:spPr/>
        <p:txBody>
          <a:bodyPr/>
          <a:lstStyle/>
          <a:p>
            <a:fld id="{B5CEABB6-07DC-46E8-9B57-56EC44A396E5}" type="slidenum">
              <a:rPr lang="en-US" smtClean="0"/>
              <a:t>10</a:t>
            </a:fld>
            <a:endParaRPr lang="en-US" dirty="0"/>
          </a:p>
        </p:txBody>
      </p:sp>
      <p:sp>
        <p:nvSpPr>
          <p:cNvPr id="15" name="TextBox 14">
            <a:extLst>
              <a:ext uri="{FF2B5EF4-FFF2-40B4-BE49-F238E27FC236}">
                <a16:creationId xmlns:a16="http://schemas.microsoft.com/office/drawing/2014/main" id="{0FF8F898-B5FA-E99F-A9BB-504B7DE2E24D}"/>
              </a:ext>
            </a:extLst>
          </p:cNvPr>
          <p:cNvSpPr txBox="1"/>
          <p:nvPr/>
        </p:nvSpPr>
        <p:spPr>
          <a:xfrm>
            <a:off x="5141927" y="2721114"/>
            <a:ext cx="3836504" cy="707886"/>
          </a:xfrm>
          <a:prstGeom prst="rect">
            <a:avLst/>
          </a:prstGeom>
          <a:noFill/>
        </p:spPr>
        <p:txBody>
          <a:bodyPr wrap="square">
            <a:spAutoFit/>
          </a:bodyPr>
          <a:lstStyle/>
          <a:p>
            <a:r>
              <a:rPr lang="en-IN" sz="4000" dirty="0">
                <a:effectLst/>
                <a:latin typeface="Bradley Hand ITC" panose="03070402050302030203" pitchFamily="66" charset="0"/>
              </a:rPr>
              <a:t>THANK YOU...</a:t>
            </a:r>
            <a:endParaRPr lang="en-IN" sz="4000" dirty="0">
              <a:latin typeface="Bradley Hand ITC" panose="03070402050302030203" pitchFamily="66" charset="0"/>
            </a:endParaRPr>
          </a:p>
        </p:txBody>
      </p:sp>
    </p:spTree>
    <p:extLst>
      <p:ext uri="{BB962C8B-B14F-4D97-AF65-F5344CB8AC3E}">
        <p14:creationId xmlns:p14="http://schemas.microsoft.com/office/powerpoint/2010/main" val="112536614"/>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966C46A-DC57-4209-80CD-9FE6C93151FF}">
  <ds:schemaRefs>
    <ds:schemaRef ds:uri="http://schemas.microsoft.com/sharepoint/v3/contenttype/forms"/>
  </ds:schemaRefs>
</ds:datastoreItem>
</file>

<file path=customXml/itemProps3.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light sales pitch</Template>
  <TotalTime>47</TotalTime>
  <Words>457</Words>
  <Application>Microsoft Office PowerPoint</Application>
  <PresentationFormat>Widescreen</PresentationFormat>
  <Paragraphs>69</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Bradley Hand ITC</vt:lpstr>
      <vt:lpstr>Calibri</vt:lpstr>
      <vt:lpstr>Tenorite</vt:lpstr>
      <vt:lpstr>Monoline</vt:lpstr>
      <vt:lpstr>Traffic Signal Optimization</vt:lpstr>
      <vt:lpstr>CONTENTS/AGENDA</vt:lpstr>
      <vt:lpstr>Abstract / Proposal</vt:lpstr>
      <vt:lpstr>4. Hardware Requirements  </vt:lpstr>
      <vt:lpstr>5.Software requirementS </vt:lpstr>
      <vt:lpstr>METHODOLOGY</vt:lpstr>
      <vt:lpstr>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Inturi Joshitha</dc:creator>
  <cp:lastModifiedBy>Inturi Joshitha</cp:lastModifiedBy>
  <cp:revision>1</cp:revision>
  <dcterms:created xsi:type="dcterms:W3CDTF">2026-05-21T05:00:33Z</dcterms:created>
  <dcterms:modified xsi:type="dcterms:W3CDTF">2026-05-21T05:47:45Z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